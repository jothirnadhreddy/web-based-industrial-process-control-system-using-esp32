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456" y="0"/>
            <a:ext cx="18069563" cy="10287000"/>
            <a:chOff x="0" y="0"/>
            <a:chExt cx="2409275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1392" cy="13716000"/>
            </a:xfrm>
            <a:custGeom>
              <a:avLst/>
              <a:gdLst/>
              <a:ahLst/>
              <a:cxnLst/>
              <a:rect l="l" t="t" r="r" b="b"/>
              <a:pathLst>
                <a:path w="24091392" h="13716000">
                  <a:moveTo>
                    <a:pt x="0" y="13716000"/>
                  </a:moveTo>
                  <a:lnTo>
                    <a:pt x="24091392" y="13716000"/>
                  </a:lnTo>
                  <a:lnTo>
                    <a:pt x="24091392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219713" cy="10287000"/>
            <a:chOff x="0" y="0"/>
            <a:chExt cx="29295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2608" cy="13716000"/>
            </a:xfrm>
            <a:custGeom>
              <a:avLst/>
              <a:gdLst/>
              <a:ahLst/>
              <a:cxnLst/>
              <a:rect l="l" t="t" r="r" b="b"/>
              <a:pathLst>
                <a:path w="292608" h="13716000">
                  <a:moveTo>
                    <a:pt x="292608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92608" y="13716000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703303" y="535943"/>
            <a:ext cx="244850" cy="244850"/>
            <a:chOff x="0" y="0"/>
            <a:chExt cx="326466" cy="3264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99" r="15" b="-198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434795" y="535943"/>
            <a:ext cx="244850" cy="244850"/>
            <a:chOff x="0" y="0"/>
            <a:chExt cx="326466" cy="3264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5" b="1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166315" y="535943"/>
            <a:ext cx="244850" cy="244850"/>
            <a:chOff x="0" y="0"/>
            <a:chExt cx="326466" cy="3264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5" b="1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897863" y="535943"/>
            <a:ext cx="244850" cy="244850"/>
            <a:chOff x="0" y="0"/>
            <a:chExt cx="326466" cy="3264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5" b="1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6629383" y="535943"/>
            <a:ext cx="244850" cy="244850"/>
            <a:chOff x="0" y="0"/>
            <a:chExt cx="326466" cy="3264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5" b="1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3703303" y="9497054"/>
            <a:ext cx="244850" cy="244859"/>
            <a:chOff x="0" y="0"/>
            <a:chExt cx="326466" cy="3264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99" r="15" b="-198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34795" y="9497054"/>
            <a:ext cx="244850" cy="244859"/>
            <a:chOff x="0" y="0"/>
            <a:chExt cx="326466" cy="3264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2" b="1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5166315" y="9497054"/>
            <a:ext cx="244850" cy="244859"/>
            <a:chOff x="0" y="0"/>
            <a:chExt cx="326466" cy="3264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2" b="1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897863" y="9497054"/>
            <a:ext cx="244850" cy="244859"/>
            <a:chOff x="0" y="0"/>
            <a:chExt cx="326466" cy="3264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2" b="11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6629383" y="9497054"/>
            <a:ext cx="244850" cy="244859"/>
            <a:chOff x="0" y="0"/>
            <a:chExt cx="326466" cy="3264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0"/>
                  </a:moveTo>
                  <a:lnTo>
                    <a:pt x="326517" y="0"/>
                  </a:lnTo>
                  <a:lnTo>
                    <a:pt x="326517" y="326517"/>
                  </a:lnTo>
                  <a:lnTo>
                    <a:pt x="0" y="32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2" b="1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731520" y="2103120"/>
            <a:ext cx="5852160" cy="695963"/>
            <a:chOff x="0" y="0"/>
            <a:chExt cx="7802880" cy="9279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802880" cy="927989"/>
            </a:xfrm>
            <a:custGeom>
              <a:avLst/>
              <a:gdLst/>
              <a:ahLst/>
              <a:cxnLst/>
              <a:rect l="l" t="t" r="r" b="b"/>
              <a:pathLst>
                <a:path w="7802880" h="927989">
                  <a:moveTo>
                    <a:pt x="0" y="0"/>
                  </a:moveTo>
                  <a:lnTo>
                    <a:pt x="7802880" y="0"/>
                  </a:lnTo>
                  <a:lnTo>
                    <a:pt x="7802880" y="927989"/>
                  </a:lnTo>
                  <a:lnTo>
                    <a:pt x="0" y="927989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802880" cy="95652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 I NI P ROJ EC T REP ORT — EM BED D ED S Y STEM 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963650" y="2361924"/>
            <a:ext cx="3781577" cy="3781549"/>
            <a:chOff x="0" y="0"/>
            <a:chExt cx="5042103" cy="50420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42154" cy="5042027"/>
            </a:xfrm>
            <a:custGeom>
              <a:avLst/>
              <a:gdLst/>
              <a:ahLst/>
              <a:cxnLst/>
              <a:rect l="l" t="t" r="r" b="b"/>
              <a:pathLst>
                <a:path w="5042154" h="5042027">
                  <a:moveTo>
                    <a:pt x="0" y="0"/>
                  </a:moveTo>
                  <a:lnTo>
                    <a:pt x="5042154" y="0"/>
                  </a:lnTo>
                  <a:lnTo>
                    <a:pt x="5042154" y="5042027"/>
                  </a:lnTo>
                  <a:lnTo>
                    <a:pt x="0" y="5042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1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890264" y="8093078"/>
            <a:ext cx="7983217" cy="147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8EAAB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Platform: </a:t>
            </a: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ESP32 DevKit V1 + FreeRTOS </a:t>
            </a:r>
            <a:r>
              <a:rPr lang="en-US" sz="2200" b="1">
                <a:solidFill>
                  <a:srgbClr val="8EAAB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IDE: </a:t>
            </a: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 IDE / PlatformIO</a:t>
            </a:r>
          </a:p>
          <a:p>
            <a:pPr algn="l">
              <a:lnSpc>
                <a:spcPts val="2640"/>
              </a:lnSpc>
            </a:pPr>
            <a:endParaRPr lang="en-US" sz="220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640"/>
              </a:lnSpc>
            </a:pPr>
            <a:r>
              <a:rPr lang="en-US" sz="2200" spc="-40">
                <a:solidFill>
                  <a:srgbClr val="8EAAB9"/>
                </a:solidFill>
                <a:latin typeface="Calibri (MS)"/>
                <a:ea typeface="Calibri (MS)"/>
                <a:cs typeface="Calibri (MS)"/>
                <a:sym typeface="Calibri (MS)"/>
              </a:rPr>
              <a:t>2025 – 2026</a:t>
            </a:r>
          </a:p>
        </p:txBody>
      </p:sp>
      <p:sp>
        <p:nvSpPr>
          <p:cNvPr id="32" name="TextBox 32" descr="$PPTXTitle"/>
          <p:cNvSpPr txBox="1"/>
          <p:nvPr/>
        </p:nvSpPr>
        <p:spPr>
          <a:xfrm>
            <a:off x="14245590" y="2780033"/>
            <a:ext cx="3329940" cy="3091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8"/>
              </a:lnSpc>
            </a:pPr>
            <a:r>
              <a:rPr lang="en-US" sz="5500" b="1" spc="-5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 32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794734" y="3004823"/>
            <a:ext cx="4213603" cy="2165347"/>
          </a:xfrm>
          <a:custGeom>
            <a:avLst/>
            <a:gdLst/>
            <a:ahLst/>
            <a:cxnLst/>
            <a:rect l="l" t="t" r="r" b="b"/>
            <a:pathLst>
              <a:path w="4213603" h="2165347">
                <a:moveTo>
                  <a:pt x="0" y="0"/>
                </a:moveTo>
                <a:lnTo>
                  <a:pt x="4213602" y="0"/>
                </a:lnTo>
                <a:lnTo>
                  <a:pt x="4213602" y="2165347"/>
                </a:lnTo>
                <a:lnTo>
                  <a:pt x="0" y="2165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706098" y="3203219"/>
            <a:ext cx="8799833" cy="433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1"/>
              </a:lnSpc>
            </a:pPr>
            <a:r>
              <a:rPr lang="en-US" sz="49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Web-Based Industrial Process Control System Using ESP32 with Real-Time Dashboard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Using ESP32 with Real-Time Dashboard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Live Monitoring &amp; Control using WebSocket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8" name="TextBox 8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28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ABSTRACT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73153" y="3315452"/>
            <a:ext cx="15929610" cy="320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presents a Web-based Industrial Process Control System using ESP32.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monitors tank level, pressure, and motor RPM in real time.</a:t>
            </a:r>
          </a:p>
          <a:p>
            <a:pPr algn="l">
              <a:lnSpc>
                <a:spcPts val="2966"/>
              </a:lnSpc>
            </a:pPr>
            <a:r>
              <a:rPr lang="en-US" sz="2400" spc="-2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A WebSocket-based dashboard enables live visualization and remote control of system parameters such as motor speed and tank level setpoints.</a:t>
            </a:r>
          </a:p>
          <a:p>
            <a:pPr algn="l">
              <a:lnSpc>
                <a:spcPts val="2879"/>
              </a:lnSpc>
            </a:pPr>
            <a:r>
              <a:rPr lang="en-US" sz="2400" spc="-2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Safety is ensured using multi-level alarm logic with automatic relay shutdown.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1703" y="6936743"/>
            <a:ext cx="16484603" cy="2677163"/>
            <a:chOff x="0" y="0"/>
            <a:chExt cx="21979471" cy="3569551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21945599" cy="3535680"/>
            </a:xfrm>
            <a:custGeom>
              <a:avLst/>
              <a:gdLst/>
              <a:ahLst/>
              <a:cxnLst/>
              <a:rect l="l" t="t" r="r" b="b"/>
              <a:pathLst>
                <a:path w="21945599" h="3535680">
                  <a:moveTo>
                    <a:pt x="0" y="0"/>
                  </a:moveTo>
                  <a:lnTo>
                    <a:pt x="21945599" y="0"/>
                  </a:lnTo>
                  <a:lnTo>
                    <a:pt x="21945599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E9F5F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1979382" cy="3569462"/>
            </a:xfrm>
            <a:custGeom>
              <a:avLst/>
              <a:gdLst/>
              <a:ahLst/>
              <a:cxnLst/>
              <a:rect l="l" t="t" r="r" b="b"/>
              <a:pathLst>
                <a:path w="21979382" h="356946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3552571"/>
                  </a:lnTo>
                  <a:cubicBezTo>
                    <a:pt x="21979382" y="3561969"/>
                    <a:pt x="21971763" y="3569462"/>
                    <a:pt x="21962490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21962490" y="3535680"/>
                  </a:lnTo>
                  <a:lnTo>
                    <a:pt x="21962490" y="3552571"/>
                  </a:lnTo>
                  <a:lnTo>
                    <a:pt x="21945600" y="35525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1979471" cy="36171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640"/>
                </a:lnSpc>
              </a:pPr>
              <a:endParaRPr/>
            </a:p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W O RDS</a:t>
              </a:r>
            </a:p>
            <a:p>
              <a:pPr algn="l">
                <a:lnSpc>
                  <a:spcPts val="2640"/>
                </a:lnSpc>
              </a:pPr>
              <a:endParaRPr lang="en-US" sz="1900" b="1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Real-Time OS Multitasking Industrial Automation Sensor Motor Control Scheduler WebSocket Dashboard Alarm Logic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6" name="TextBox 6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2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3153" y="2489578"/>
            <a:ext cx="428244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 b="1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Industrial systems require real-time monitoring, remote control, and safety automation.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8650" y="3200248"/>
            <a:ext cx="8315525" cy="2466975"/>
            <a:chOff x="0" y="0"/>
            <a:chExt cx="11087367" cy="328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87354" cy="3289300"/>
            </a:xfrm>
            <a:custGeom>
              <a:avLst/>
              <a:gdLst/>
              <a:ahLst/>
              <a:cxnLst/>
              <a:rect l="l" t="t" r="r" b="b"/>
              <a:pathLst>
                <a:path w="11087354" h="3289300">
                  <a:moveTo>
                    <a:pt x="0" y="0"/>
                  </a:moveTo>
                  <a:lnTo>
                    <a:pt x="11087354" y="0"/>
                  </a:lnTo>
                  <a:lnTo>
                    <a:pt x="11087354" y="3289300"/>
                  </a:lnTo>
                  <a:lnTo>
                    <a:pt x="0" y="328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6" b="-13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14400" y="3383280"/>
            <a:ext cx="7863840" cy="2011680"/>
            <a:chOff x="0" y="0"/>
            <a:chExt cx="10485120" cy="26822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85120" cy="2682240"/>
            </a:xfrm>
            <a:custGeom>
              <a:avLst/>
              <a:gdLst/>
              <a:ahLst/>
              <a:cxnLst/>
              <a:rect l="l" t="t" r="r" b="b"/>
              <a:pathLst>
                <a:path w="10485120" h="2682240">
                  <a:moveTo>
                    <a:pt x="1048512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10485120" y="2682240"/>
                  </a:lnTo>
                  <a:lnTo>
                    <a:pt x="10485120" y="0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638550" y="3466948"/>
            <a:ext cx="657225" cy="638175"/>
            <a:chOff x="0" y="0"/>
            <a:chExt cx="876300" cy="850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876300" h="850900">
                  <a:moveTo>
                    <a:pt x="0" y="0"/>
                  </a:moveTo>
                  <a:lnTo>
                    <a:pt x="876300" y="0"/>
                  </a:lnTo>
                  <a:lnTo>
                    <a:pt x="876300" y="850900"/>
                  </a:lnTo>
                  <a:lnTo>
                    <a:pt x="0" y="85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" b="-20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914400" y="3429629"/>
            <a:ext cx="7863840" cy="1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spc="-2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  <a:p>
            <a:pPr algn="ctr">
              <a:lnSpc>
                <a:spcPts val="2879"/>
              </a:lnSpc>
            </a:pPr>
            <a:endParaRPr lang="en-US" sz="2400" b="1" spc="-20">
              <a:solidFill>
                <a:srgbClr val="FFD166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565"/>
              </a:lnSpc>
            </a:pPr>
            <a:r>
              <a:rPr lang="en-US" sz="2100" spc="-2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bare-metal single-loop programs CANNOT meet multiple concurrent timing constraints in industrial systems.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20200" y="3200248"/>
            <a:ext cx="8315525" cy="2466975"/>
            <a:chOff x="0" y="0"/>
            <a:chExt cx="11087367" cy="3289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87354" cy="3289300"/>
            </a:xfrm>
            <a:custGeom>
              <a:avLst/>
              <a:gdLst/>
              <a:ahLst/>
              <a:cxnLst/>
              <a:rect l="l" t="t" r="r" b="b"/>
              <a:pathLst>
                <a:path w="11087354" h="3289300">
                  <a:moveTo>
                    <a:pt x="0" y="0"/>
                  </a:moveTo>
                  <a:lnTo>
                    <a:pt x="11087354" y="0"/>
                  </a:lnTo>
                  <a:lnTo>
                    <a:pt x="11087354" y="3289300"/>
                  </a:lnTo>
                  <a:lnTo>
                    <a:pt x="0" y="328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6" b="-13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509760" y="3383280"/>
            <a:ext cx="7863840" cy="2011680"/>
            <a:chOff x="0" y="0"/>
            <a:chExt cx="10485120" cy="2682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85120" cy="2682240"/>
            </a:xfrm>
            <a:custGeom>
              <a:avLst/>
              <a:gdLst/>
              <a:ahLst/>
              <a:cxnLst/>
              <a:rect l="l" t="t" r="r" b="b"/>
              <a:pathLst>
                <a:path w="10485120" h="2682240">
                  <a:moveTo>
                    <a:pt x="0" y="0"/>
                  </a:moveTo>
                  <a:lnTo>
                    <a:pt x="10485120" y="0"/>
                  </a:lnTo>
                  <a:lnTo>
                    <a:pt x="10485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85120" cy="272034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3514090" lvl="1" indent="-1757045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 spc="-2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  <a:p>
              <a:pPr marL="3074829" lvl="1" indent="-1537414" algn="l">
                <a:lnSpc>
                  <a:spcPts val="2565"/>
                </a:lnSpc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Web-Based Industrial Process Control System provides  preemptive multitasking, deterministic scheduling &amp; safe resource sharing for concurrent tasks.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" y="5677024"/>
            <a:ext cx="8315525" cy="1952644"/>
            <a:chOff x="0" y="0"/>
            <a:chExt cx="11087367" cy="26035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87354" cy="2603500"/>
            </a:xfrm>
            <a:custGeom>
              <a:avLst/>
              <a:gdLst/>
              <a:ahLst/>
              <a:cxnLst/>
              <a:rect l="l" t="t" r="r" b="b"/>
              <a:pathLst>
                <a:path w="11087354" h="2603500">
                  <a:moveTo>
                    <a:pt x="0" y="0"/>
                  </a:moveTo>
                  <a:lnTo>
                    <a:pt x="11087354" y="0"/>
                  </a:lnTo>
                  <a:lnTo>
                    <a:pt x="11087354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86" b="-188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14400" y="5852160"/>
            <a:ext cx="1005840" cy="1499873"/>
            <a:chOff x="0" y="0"/>
            <a:chExt cx="1341120" cy="19998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1120" cy="1999869"/>
            </a:xfrm>
            <a:custGeom>
              <a:avLst/>
              <a:gdLst/>
              <a:ahLst/>
              <a:cxnLst/>
              <a:rect l="l" t="t" r="r" b="b"/>
              <a:pathLst>
                <a:path w="1341120" h="1999869">
                  <a:moveTo>
                    <a:pt x="0" y="0"/>
                  </a:moveTo>
                  <a:lnTo>
                    <a:pt x="1341120" y="0"/>
                  </a:lnTo>
                  <a:lnTo>
                    <a:pt x="134112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341120" cy="205698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120"/>
                </a:lnSpc>
              </a:pPr>
              <a:endParaRPr/>
            </a:p>
            <a:p>
              <a:pPr algn="l">
                <a:lnSpc>
                  <a:spcPts val="3120"/>
                </a:lnSpc>
              </a:pPr>
              <a:r>
                <a:rPr lang="en-US" sz="2600" b="1" spc="-49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20240" y="5852160"/>
            <a:ext cx="6858000" cy="1499873"/>
            <a:chOff x="0" y="0"/>
            <a:chExt cx="9144000" cy="19998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44000" cy="1999869"/>
            </a:xfrm>
            <a:custGeom>
              <a:avLst/>
              <a:gdLst/>
              <a:ahLst/>
              <a:cxnLst/>
              <a:rect l="l" t="t" r="r" b="b"/>
              <a:pathLst>
                <a:path w="9144000" h="1999869">
                  <a:moveTo>
                    <a:pt x="0" y="0"/>
                  </a:moveTo>
                  <a:lnTo>
                    <a:pt x="9144000" y="0"/>
                  </a:lnTo>
                  <a:lnTo>
                    <a:pt x="914400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144000" cy="205698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823"/>
                </a:lnSpc>
              </a:pPr>
              <a:r>
                <a:rPr lang="en-US" sz="23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ESP32 with Wi-Fi and Web Dashboard enables real-time monitoring and control.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15450" y="5677024"/>
            <a:ext cx="8315525" cy="1952644"/>
            <a:chOff x="0" y="0"/>
            <a:chExt cx="11087367" cy="26035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87354" cy="2603500"/>
            </a:xfrm>
            <a:custGeom>
              <a:avLst/>
              <a:gdLst/>
              <a:ahLst/>
              <a:cxnLst/>
              <a:rect l="l" t="t" r="r" b="b"/>
              <a:pathLst>
                <a:path w="11087354" h="2603500">
                  <a:moveTo>
                    <a:pt x="0" y="0"/>
                  </a:moveTo>
                  <a:lnTo>
                    <a:pt x="11087354" y="0"/>
                  </a:lnTo>
                  <a:lnTo>
                    <a:pt x="11087354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86" b="-188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601200" y="5852160"/>
            <a:ext cx="1005840" cy="1499873"/>
            <a:chOff x="0" y="0"/>
            <a:chExt cx="1341120" cy="199983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41120" cy="1999869"/>
            </a:xfrm>
            <a:custGeom>
              <a:avLst/>
              <a:gdLst/>
              <a:ahLst/>
              <a:cxnLst/>
              <a:rect l="l" t="t" r="r" b="b"/>
              <a:pathLst>
                <a:path w="1341120" h="1999869">
                  <a:moveTo>
                    <a:pt x="0" y="0"/>
                  </a:moveTo>
                  <a:lnTo>
                    <a:pt x="1341120" y="0"/>
                  </a:lnTo>
                  <a:lnTo>
                    <a:pt x="134112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341120" cy="205698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120"/>
                </a:lnSpc>
              </a:pPr>
              <a:endParaRPr/>
            </a:p>
            <a:p>
              <a:pPr algn="l">
                <a:lnSpc>
                  <a:spcPts val="3120"/>
                </a:lnSpc>
              </a:pPr>
              <a:r>
                <a:rPr lang="en-US" sz="2600" b="1" spc="-49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607040" y="5852160"/>
            <a:ext cx="6858000" cy="1499873"/>
            <a:chOff x="0" y="0"/>
            <a:chExt cx="9144000" cy="199983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1999869"/>
            </a:xfrm>
            <a:custGeom>
              <a:avLst/>
              <a:gdLst/>
              <a:ahLst/>
              <a:cxnLst/>
              <a:rect l="l" t="t" r="r" b="b"/>
              <a:pathLst>
                <a:path w="9144000" h="1999869">
                  <a:moveTo>
                    <a:pt x="0" y="0"/>
                  </a:moveTo>
                  <a:lnTo>
                    <a:pt x="9144000" y="0"/>
                  </a:lnTo>
                  <a:lnTo>
                    <a:pt x="914400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144000" cy="204745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883920" lvl="1" indent="-44196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Remote control via dashboard</a:t>
              </a:r>
            </a:p>
            <a:p>
              <a:pPr marL="859790" lvl="1" indent="-429895" algn="l">
                <a:lnSpc>
                  <a:spcPts val="2400"/>
                </a:lnSpc>
                <a:buFont typeface="Arial"/>
                <a:buChar char="•"/>
              </a:pPr>
              <a:r>
                <a:rPr lang="en-US" sz="2000" spc="-2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Automatic safety system and Wireless communication (Wi-Fi)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" y="7410450"/>
            <a:ext cx="8315525" cy="1952644"/>
            <a:chOff x="0" y="0"/>
            <a:chExt cx="11087367" cy="26035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87354" cy="2603500"/>
            </a:xfrm>
            <a:custGeom>
              <a:avLst/>
              <a:gdLst/>
              <a:ahLst/>
              <a:cxnLst/>
              <a:rect l="l" t="t" r="r" b="b"/>
              <a:pathLst>
                <a:path w="11087354" h="2603500">
                  <a:moveTo>
                    <a:pt x="0" y="0"/>
                  </a:moveTo>
                  <a:lnTo>
                    <a:pt x="11087354" y="0"/>
                  </a:lnTo>
                  <a:lnTo>
                    <a:pt x="11087354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86" b="-188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914400" y="7589520"/>
            <a:ext cx="1005840" cy="1499873"/>
            <a:chOff x="0" y="0"/>
            <a:chExt cx="1341120" cy="199983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41120" cy="1999869"/>
            </a:xfrm>
            <a:custGeom>
              <a:avLst/>
              <a:gdLst/>
              <a:ahLst/>
              <a:cxnLst/>
              <a:rect l="l" t="t" r="r" b="b"/>
              <a:pathLst>
                <a:path w="1341120" h="1999869">
                  <a:moveTo>
                    <a:pt x="0" y="0"/>
                  </a:moveTo>
                  <a:lnTo>
                    <a:pt x="1341120" y="0"/>
                  </a:lnTo>
                  <a:lnTo>
                    <a:pt x="134112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341120" cy="204745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99"/>
                </a:lnSpc>
              </a:pPr>
              <a:endParaRPr/>
            </a:p>
            <a:p>
              <a:pPr algn="l">
                <a:lnSpc>
                  <a:spcPts val="2999"/>
                </a:lnSpc>
              </a:pPr>
              <a:r>
                <a:rPr lang="en-US" sz="2499" b="1" spc="-49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920240" y="7589520"/>
            <a:ext cx="6858000" cy="1499873"/>
            <a:chOff x="0" y="0"/>
            <a:chExt cx="9144000" cy="199983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0" cy="1999869"/>
            </a:xfrm>
            <a:custGeom>
              <a:avLst/>
              <a:gdLst/>
              <a:ahLst/>
              <a:cxnLst/>
              <a:rect l="l" t="t" r="r" b="b"/>
              <a:pathLst>
                <a:path w="9144000" h="1999869">
                  <a:moveTo>
                    <a:pt x="0" y="0"/>
                  </a:moveTo>
                  <a:lnTo>
                    <a:pt x="9144000" y="0"/>
                  </a:lnTo>
                  <a:lnTo>
                    <a:pt x="914400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144000" cy="204745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640"/>
                </a:lnSpc>
              </a:pPr>
              <a:endParaRPr/>
            </a:p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Resource Sharing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15450" y="7410450"/>
            <a:ext cx="8315525" cy="1952644"/>
            <a:chOff x="0" y="0"/>
            <a:chExt cx="11087367" cy="260352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087354" cy="2603500"/>
            </a:xfrm>
            <a:custGeom>
              <a:avLst/>
              <a:gdLst/>
              <a:ahLst/>
              <a:cxnLst/>
              <a:rect l="l" t="t" r="r" b="b"/>
              <a:pathLst>
                <a:path w="11087354" h="2603500">
                  <a:moveTo>
                    <a:pt x="0" y="0"/>
                  </a:moveTo>
                  <a:lnTo>
                    <a:pt x="11087354" y="0"/>
                  </a:lnTo>
                  <a:lnTo>
                    <a:pt x="11087354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86" b="-188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9601200" y="7589520"/>
            <a:ext cx="1005840" cy="1499873"/>
            <a:chOff x="0" y="0"/>
            <a:chExt cx="1341120" cy="199983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41120" cy="1999869"/>
            </a:xfrm>
            <a:custGeom>
              <a:avLst/>
              <a:gdLst/>
              <a:ahLst/>
              <a:cxnLst/>
              <a:rect l="l" t="t" r="r" b="b"/>
              <a:pathLst>
                <a:path w="1341120" h="1999869">
                  <a:moveTo>
                    <a:pt x="0" y="0"/>
                  </a:moveTo>
                  <a:lnTo>
                    <a:pt x="1341120" y="0"/>
                  </a:lnTo>
                  <a:lnTo>
                    <a:pt x="134112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1341120" cy="204745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99"/>
                </a:lnSpc>
              </a:pPr>
              <a:endParaRPr/>
            </a:p>
            <a:p>
              <a:pPr algn="l">
                <a:lnSpc>
                  <a:spcPts val="2999"/>
                </a:lnSpc>
              </a:pPr>
              <a:r>
                <a:rPr lang="en-US" sz="2499" b="1" spc="-49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607040" y="7589520"/>
            <a:ext cx="6858000" cy="1499873"/>
            <a:chOff x="0" y="0"/>
            <a:chExt cx="9144000" cy="199983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44000" cy="1999869"/>
            </a:xfrm>
            <a:custGeom>
              <a:avLst/>
              <a:gdLst/>
              <a:ahLst/>
              <a:cxnLst/>
              <a:rect l="l" t="t" r="r" b="b"/>
              <a:pathLst>
                <a:path w="9144000" h="1999869">
                  <a:moveTo>
                    <a:pt x="0" y="0"/>
                  </a:moveTo>
                  <a:lnTo>
                    <a:pt x="9144000" y="0"/>
                  </a:lnTo>
                  <a:lnTo>
                    <a:pt x="9144000" y="1999869"/>
                  </a:lnTo>
                  <a:lnTo>
                    <a:pt x="0" y="19998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9144000" cy="204745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Code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task is an independent, testable unit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8" name="TextBox 8" descr="$PPTXTitle"/>
          <p:cNvSpPr txBox="1"/>
          <p:nvPr/>
        </p:nvSpPr>
        <p:spPr>
          <a:xfrm>
            <a:off x="890264" y="-131693"/>
            <a:ext cx="5453377" cy="18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2"/>
              </a:lnSpc>
            </a:pPr>
            <a:r>
              <a:rPr lang="en-US" sz="5500" b="1" spc="-2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4 — SYSTEM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1950" y="3200400"/>
            <a:ext cx="8677427" cy="3190751"/>
            <a:chOff x="0" y="0"/>
            <a:chExt cx="11569903" cy="4254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69954" cy="4254373"/>
            </a:xfrm>
            <a:custGeom>
              <a:avLst/>
              <a:gdLst/>
              <a:ahLst/>
              <a:cxnLst/>
              <a:rect l="l" t="t" r="r" b="b"/>
              <a:pathLst>
                <a:path w="11569954" h="4254373">
                  <a:moveTo>
                    <a:pt x="0" y="0"/>
                  </a:moveTo>
                  <a:lnTo>
                    <a:pt x="11569954" y="0"/>
                  </a:lnTo>
                  <a:lnTo>
                    <a:pt x="11569954" y="4254373"/>
                  </a:lnTo>
                  <a:lnTo>
                    <a:pt x="0" y="425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7" b="-9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3383280"/>
            <a:ext cx="8229600" cy="695963"/>
            <a:chOff x="0" y="0"/>
            <a:chExt cx="10972800" cy="9279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927989"/>
            </a:xfrm>
            <a:custGeom>
              <a:avLst/>
              <a:gdLst/>
              <a:ahLst/>
              <a:cxnLst/>
              <a:rect l="l" t="t" r="r" b="b"/>
              <a:pathLst>
                <a:path w="10972800" h="927989">
                  <a:moveTo>
                    <a:pt x="0" y="0"/>
                  </a:moveTo>
                  <a:lnTo>
                    <a:pt x="10972800" y="0"/>
                  </a:lnTo>
                  <a:lnTo>
                    <a:pt x="10972800" y="927989"/>
                  </a:lnTo>
                  <a:lnTo>
                    <a:pt x="0" y="927989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972800" cy="975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99"/>
                </a:lnSpc>
              </a:pPr>
              <a:r>
                <a:rPr lang="en-US" sz="2499" b="1" spc="-2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vAlarmTask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" y="4078224"/>
            <a:ext cx="8229600" cy="2048513"/>
            <a:chOff x="0" y="0"/>
            <a:chExt cx="10972800" cy="2731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2731389"/>
            </a:xfrm>
            <a:custGeom>
              <a:avLst/>
              <a:gdLst/>
              <a:ahLst/>
              <a:cxnLst/>
              <a:rect l="l" t="t" r="r" b="b"/>
              <a:pathLst>
                <a:path w="10972800" h="2731389">
                  <a:moveTo>
                    <a:pt x="0" y="0"/>
                  </a:moveTo>
                  <a:lnTo>
                    <a:pt x="10972800" y="0"/>
                  </a:lnTo>
                  <a:lnTo>
                    <a:pt x="10972800" y="2731389"/>
                  </a:lnTo>
                  <a:lnTo>
                    <a:pt x="0" y="273138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972800" cy="27789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— HIGHEST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Period: </a:t>
              </a:r>
              <a:r>
                <a:rPr lang="en-US" sz="21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ms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1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Safety checks, buzzer, relay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0" y="3200400"/>
            <a:ext cx="8677427" cy="3190751"/>
            <a:chOff x="0" y="0"/>
            <a:chExt cx="11569903" cy="42543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569954" cy="4254373"/>
            </a:xfrm>
            <a:custGeom>
              <a:avLst/>
              <a:gdLst/>
              <a:ahLst/>
              <a:cxnLst/>
              <a:rect l="l" t="t" r="r" b="b"/>
              <a:pathLst>
                <a:path w="11569954" h="4254373">
                  <a:moveTo>
                    <a:pt x="0" y="0"/>
                  </a:moveTo>
                  <a:lnTo>
                    <a:pt x="11569954" y="0"/>
                  </a:lnTo>
                  <a:lnTo>
                    <a:pt x="11569954" y="4254373"/>
                  </a:lnTo>
                  <a:lnTo>
                    <a:pt x="0" y="425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7" b="-9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418320" y="3383280"/>
            <a:ext cx="8229600" cy="695963"/>
            <a:chOff x="0" y="0"/>
            <a:chExt cx="10972800" cy="9279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927989"/>
            </a:xfrm>
            <a:custGeom>
              <a:avLst/>
              <a:gdLst/>
              <a:ahLst/>
              <a:cxnLst/>
              <a:rect l="l" t="t" r="r" b="b"/>
              <a:pathLst>
                <a:path w="10972800" h="927989">
                  <a:moveTo>
                    <a:pt x="0" y="0"/>
                  </a:moveTo>
                  <a:lnTo>
                    <a:pt x="10972800" y="0"/>
                  </a:lnTo>
                  <a:lnTo>
                    <a:pt x="10972800" y="927989"/>
                  </a:lnTo>
                  <a:lnTo>
                    <a:pt x="0" y="927989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972800" cy="975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99"/>
                </a:lnSpc>
              </a:pPr>
              <a:r>
                <a:rPr lang="en-US" sz="2499" b="1" spc="-2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vSensorTask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18320" y="4078224"/>
            <a:ext cx="8229600" cy="2048513"/>
            <a:chOff x="0" y="0"/>
            <a:chExt cx="10972800" cy="27313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0" cy="2731389"/>
            </a:xfrm>
            <a:custGeom>
              <a:avLst/>
              <a:gdLst/>
              <a:ahLst/>
              <a:cxnLst/>
              <a:rect l="l" t="t" r="r" b="b"/>
              <a:pathLst>
                <a:path w="10972800" h="2731389">
                  <a:moveTo>
                    <a:pt x="0" y="0"/>
                  </a:moveTo>
                  <a:lnTo>
                    <a:pt x="10972800" y="0"/>
                  </a:lnTo>
                  <a:lnTo>
                    <a:pt x="10972800" y="2731389"/>
                  </a:lnTo>
                  <a:lnTo>
                    <a:pt x="0" y="273138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972800" cy="27789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— HIGH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Period: </a:t>
              </a:r>
              <a:r>
                <a:rPr lang="en-US" sz="21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ms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1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ADC/I²C reads — temp &amp; pressure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1950" y="6324724"/>
            <a:ext cx="8677427" cy="3190761"/>
            <a:chOff x="0" y="0"/>
            <a:chExt cx="11569903" cy="42543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69954" cy="4254373"/>
            </a:xfrm>
            <a:custGeom>
              <a:avLst/>
              <a:gdLst/>
              <a:ahLst/>
              <a:cxnLst/>
              <a:rect l="l" t="t" r="r" b="b"/>
              <a:pathLst>
                <a:path w="11569954" h="4254373">
                  <a:moveTo>
                    <a:pt x="0" y="0"/>
                  </a:moveTo>
                  <a:lnTo>
                    <a:pt x="11569954" y="0"/>
                  </a:lnTo>
                  <a:lnTo>
                    <a:pt x="11569954" y="4254373"/>
                  </a:lnTo>
                  <a:lnTo>
                    <a:pt x="0" y="425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7" b="-96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640080" y="6492240"/>
            <a:ext cx="8229600" cy="695963"/>
            <a:chOff x="0" y="0"/>
            <a:chExt cx="10972800" cy="9279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0" cy="927989"/>
            </a:xfrm>
            <a:custGeom>
              <a:avLst/>
              <a:gdLst/>
              <a:ahLst/>
              <a:cxnLst/>
              <a:rect l="l" t="t" r="r" b="b"/>
              <a:pathLst>
                <a:path w="10972800" h="927989">
                  <a:moveTo>
                    <a:pt x="0" y="0"/>
                  </a:moveTo>
                  <a:lnTo>
                    <a:pt x="10972800" y="0"/>
                  </a:lnTo>
                  <a:lnTo>
                    <a:pt x="10972800" y="927989"/>
                  </a:lnTo>
                  <a:lnTo>
                    <a:pt x="0" y="92798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0972800" cy="975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99"/>
                </a:lnSpc>
              </a:pPr>
              <a:r>
                <a:rPr lang="en-US" sz="2499" b="1" spc="-2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vMotorTask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0080" y="7187184"/>
            <a:ext cx="8229600" cy="2048513"/>
            <a:chOff x="0" y="0"/>
            <a:chExt cx="10972800" cy="273135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72800" cy="2731389"/>
            </a:xfrm>
            <a:custGeom>
              <a:avLst/>
              <a:gdLst/>
              <a:ahLst/>
              <a:cxnLst/>
              <a:rect l="l" t="t" r="r" b="b"/>
              <a:pathLst>
                <a:path w="10972800" h="2731389">
                  <a:moveTo>
                    <a:pt x="0" y="0"/>
                  </a:moveTo>
                  <a:lnTo>
                    <a:pt x="10972800" y="0"/>
                  </a:lnTo>
                  <a:lnTo>
                    <a:pt x="10972800" y="2731389"/>
                  </a:lnTo>
                  <a:lnTo>
                    <a:pt x="0" y="273138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0972800" cy="27789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— MEDIUM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Period: </a:t>
              </a:r>
              <a:r>
                <a:rPr lang="en-US" sz="21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ms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0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PWM speed control via BTS7490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0" y="6324724"/>
            <a:ext cx="8677427" cy="3190761"/>
            <a:chOff x="0" y="0"/>
            <a:chExt cx="11569903" cy="42543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569954" cy="4254373"/>
            </a:xfrm>
            <a:custGeom>
              <a:avLst/>
              <a:gdLst/>
              <a:ahLst/>
              <a:cxnLst/>
              <a:rect l="l" t="t" r="r" b="b"/>
              <a:pathLst>
                <a:path w="11569954" h="4254373">
                  <a:moveTo>
                    <a:pt x="0" y="0"/>
                  </a:moveTo>
                  <a:lnTo>
                    <a:pt x="11569954" y="0"/>
                  </a:lnTo>
                  <a:lnTo>
                    <a:pt x="11569954" y="4254373"/>
                  </a:lnTo>
                  <a:lnTo>
                    <a:pt x="0" y="425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7" b="-96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418320" y="6492240"/>
            <a:ext cx="8229600" cy="695963"/>
            <a:chOff x="0" y="0"/>
            <a:chExt cx="10972800" cy="9279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72800" cy="927989"/>
            </a:xfrm>
            <a:custGeom>
              <a:avLst/>
              <a:gdLst/>
              <a:ahLst/>
              <a:cxnLst/>
              <a:rect l="l" t="t" r="r" b="b"/>
              <a:pathLst>
                <a:path w="10972800" h="927989">
                  <a:moveTo>
                    <a:pt x="0" y="0"/>
                  </a:moveTo>
                  <a:lnTo>
                    <a:pt x="10972800" y="0"/>
                  </a:lnTo>
                  <a:lnTo>
                    <a:pt x="10972800" y="927989"/>
                  </a:lnTo>
                  <a:lnTo>
                    <a:pt x="0" y="927989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0972800" cy="975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99"/>
                </a:lnSpc>
              </a:pPr>
              <a:r>
                <a:rPr lang="en-US" sz="2499" b="1" spc="-2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vDisplayTask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18320" y="7187184"/>
            <a:ext cx="8229600" cy="2048513"/>
            <a:chOff x="0" y="0"/>
            <a:chExt cx="10972800" cy="273135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0" cy="2731389"/>
            </a:xfrm>
            <a:custGeom>
              <a:avLst/>
              <a:gdLst/>
              <a:ahLst/>
              <a:cxnLst/>
              <a:rect l="l" t="t" r="r" b="b"/>
              <a:pathLst>
                <a:path w="10972800" h="2731389">
                  <a:moveTo>
                    <a:pt x="0" y="0"/>
                  </a:moveTo>
                  <a:lnTo>
                    <a:pt x="10972800" y="0"/>
                  </a:lnTo>
                  <a:lnTo>
                    <a:pt x="10972800" y="2731389"/>
                  </a:lnTo>
                  <a:lnTo>
                    <a:pt x="0" y="273138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0972800" cy="27789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— LOW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Period: </a:t>
              </a:r>
              <a:r>
                <a:rPr lang="en-US" sz="21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 ms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EAA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0</a:t>
              </a:r>
            </a:p>
            <a:p>
              <a:pPr algn="l">
                <a:lnSpc>
                  <a:spcPts val="2280"/>
                </a:lnSpc>
              </a:pPr>
              <a:r>
                <a:rPr lang="en-US" sz="1900" spc="-20">
                  <a:solidFill>
                    <a:srgbClr val="8EAA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Dashboard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628187" y="9486900"/>
            <a:ext cx="237744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 spc="-359">
                <a:solidFill>
                  <a:srgbClr val="EF476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← Core 1 (Safety-Critical)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62215" y="9486900"/>
            <a:ext cx="223266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 spc="-20">
                <a:solidFill>
                  <a:srgbClr val="06D6A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← Core 0 (Control &amp; 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COMPONENTS REQUIRED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6700" y="2209524"/>
            <a:ext cx="8772754" cy="3648218"/>
            <a:chOff x="0" y="0"/>
            <a:chExt cx="11697005" cy="4864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96954" cy="4864354"/>
            </a:xfrm>
            <a:custGeom>
              <a:avLst/>
              <a:gdLst/>
              <a:ahLst/>
              <a:cxnLst/>
              <a:rect l="l" t="t" r="r" b="b"/>
              <a:pathLst>
                <a:path w="11696954" h="4864354">
                  <a:moveTo>
                    <a:pt x="0" y="0"/>
                  </a:moveTo>
                  <a:lnTo>
                    <a:pt x="11696954" y="0"/>
                  </a:lnTo>
                  <a:lnTo>
                    <a:pt x="11696954" y="4864354"/>
                  </a:lnTo>
                  <a:lnTo>
                    <a:pt x="0" y="4864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5" b="-7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2377440"/>
            <a:ext cx="8321040" cy="768353"/>
            <a:chOff x="0" y="0"/>
            <a:chExt cx="11094720" cy="10244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11094720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11094720" y="1024128"/>
                  </a:lnTo>
                  <a:lnTo>
                    <a:pt x="11094720" y="0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42950" y="2495398"/>
            <a:ext cx="752475" cy="619115"/>
            <a:chOff x="0" y="0"/>
            <a:chExt cx="1003300" cy="8254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3300" cy="825500"/>
            </a:xfrm>
            <a:custGeom>
              <a:avLst/>
              <a:gdLst/>
              <a:ahLst/>
              <a:cxnLst/>
              <a:rect l="l" t="t" r="r" b="b"/>
              <a:pathLst>
                <a:path w="1003300" h="825500">
                  <a:moveTo>
                    <a:pt x="0" y="0"/>
                  </a:moveTo>
                  <a:lnTo>
                    <a:pt x="1003300" y="0"/>
                  </a:lnTo>
                  <a:lnTo>
                    <a:pt x="1003300" y="825500"/>
                  </a:lnTo>
                  <a:lnTo>
                    <a:pt x="0" y="82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5" b="-13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48640" y="2433314"/>
            <a:ext cx="832104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 spc="-2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Microcontroller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48640" y="3145536"/>
            <a:ext cx="8321040" cy="2433323"/>
            <a:chOff x="0" y="0"/>
            <a:chExt cx="11094720" cy="32444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94720" cy="3244469"/>
            </a:xfrm>
            <a:custGeom>
              <a:avLst/>
              <a:gdLst/>
              <a:ahLst/>
              <a:cxnLst/>
              <a:rect l="l" t="t" r="r" b="b"/>
              <a:pathLst>
                <a:path w="11094720" h="3244469">
                  <a:moveTo>
                    <a:pt x="0" y="0"/>
                  </a:moveTo>
                  <a:lnTo>
                    <a:pt x="11094720" y="0"/>
                  </a:lnTo>
                  <a:lnTo>
                    <a:pt x="11094720" y="3244469"/>
                  </a:lnTo>
                  <a:lnTo>
                    <a:pt x="0" y="32444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094720" cy="328253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endParaRPr/>
            </a:p>
            <a:p>
              <a:pPr algn="l">
                <a:lnSpc>
                  <a:spcPts val="2160"/>
                </a:lnSpc>
              </a:pPr>
              <a:endParaRPr/>
            </a:p>
            <a:p>
              <a:pPr algn="l">
                <a:lnSpc>
                  <a:spcPts val="2160"/>
                </a:lnSpc>
              </a:pPr>
              <a:endParaRPr/>
            </a:p>
            <a:p>
              <a:pPr marL="800100" lvl="1" indent="-400050" algn="l">
                <a:lnSpc>
                  <a:spcPts val="2255"/>
                </a:lnSpc>
                <a:buFont typeface="Arial"/>
                <a:buChar char="•"/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	ESP32-S3 DevKitC — 240 MHz Dual-Core, 320KB SRAM, Enhanced FreeRTOS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2209524"/>
            <a:ext cx="8753732" cy="3648218"/>
            <a:chOff x="0" y="0"/>
            <a:chExt cx="11671643" cy="48642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1681" cy="4864354"/>
            </a:xfrm>
            <a:custGeom>
              <a:avLst/>
              <a:gdLst/>
              <a:ahLst/>
              <a:cxnLst/>
              <a:rect l="l" t="t" r="r" b="b"/>
              <a:pathLst>
                <a:path w="11671681" h="4864354">
                  <a:moveTo>
                    <a:pt x="0" y="0"/>
                  </a:moveTo>
                  <a:lnTo>
                    <a:pt x="11671681" y="0"/>
                  </a:lnTo>
                  <a:lnTo>
                    <a:pt x="11671681" y="4864354"/>
                  </a:lnTo>
                  <a:lnTo>
                    <a:pt x="0" y="4864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5" b="-7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418320" y="2377440"/>
            <a:ext cx="8321040" cy="768353"/>
            <a:chOff x="0" y="0"/>
            <a:chExt cx="11094720" cy="10244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11094720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11094720" y="1024128"/>
                  </a:lnTo>
                  <a:lnTo>
                    <a:pt x="1109472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601200" y="2495398"/>
            <a:ext cx="733425" cy="619115"/>
            <a:chOff x="0" y="0"/>
            <a:chExt cx="977900" cy="825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7900" cy="825500"/>
            </a:xfrm>
            <a:custGeom>
              <a:avLst/>
              <a:gdLst/>
              <a:ahLst/>
              <a:cxnLst/>
              <a:rect l="l" t="t" r="r" b="b"/>
              <a:pathLst>
                <a:path w="977900" h="825500">
                  <a:moveTo>
                    <a:pt x="0" y="0"/>
                  </a:moveTo>
                  <a:lnTo>
                    <a:pt x="977900" y="0"/>
                  </a:lnTo>
                  <a:lnTo>
                    <a:pt x="977900" y="825500"/>
                  </a:lnTo>
                  <a:lnTo>
                    <a:pt x="0" y="82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8" b="-11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418320" y="2433314"/>
            <a:ext cx="832104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 spc="-2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18320" y="3145536"/>
            <a:ext cx="8321040" cy="2010804"/>
            <a:chOff x="0" y="0"/>
            <a:chExt cx="11094720" cy="26810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94720" cy="2681097"/>
            </a:xfrm>
            <a:custGeom>
              <a:avLst/>
              <a:gdLst/>
              <a:ahLst/>
              <a:cxnLst/>
              <a:rect l="l" t="t" r="r" b="b"/>
              <a:pathLst>
                <a:path w="11094720" h="2681097">
                  <a:moveTo>
                    <a:pt x="0" y="0"/>
                  </a:moveTo>
                  <a:lnTo>
                    <a:pt x="11094720" y="0"/>
                  </a:lnTo>
                  <a:lnTo>
                    <a:pt x="11094720" y="2681097"/>
                  </a:lnTo>
                  <a:lnTo>
                    <a:pt x="0" y="26810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1094720" cy="271917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endParaRPr/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DHT22 — Temp/Humidity (GPIO27)</a:t>
              </a:r>
            </a:p>
            <a:p>
              <a:pPr marL="834392" lvl="1" indent="-417196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BMP390 — Pressure + Temp (I²C);</a:t>
              </a:r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HC-SR04 (Ultrasonic Level)</a:t>
              </a:r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8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Proximity Sensor</a:t>
              </a:r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Potentiometer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6700" y="5867248"/>
            <a:ext cx="8772754" cy="3648218"/>
            <a:chOff x="0" y="0"/>
            <a:chExt cx="11697005" cy="48642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696954" cy="4864354"/>
            </a:xfrm>
            <a:custGeom>
              <a:avLst/>
              <a:gdLst/>
              <a:ahLst/>
              <a:cxnLst/>
              <a:rect l="l" t="t" r="r" b="b"/>
              <a:pathLst>
                <a:path w="11696954" h="4864354">
                  <a:moveTo>
                    <a:pt x="0" y="0"/>
                  </a:moveTo>
                  <a:lnTo>
                    <a:pt x="11696954" y="0"/>
                  </a:lnTo>
                  <a:lnTo>
                    <a:pt x="11696954" y="4864354"/>
                  </a:lnTo>
                  <a:lnTo>
                    <a:pt x="0" y="4864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5" b="-74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48640" y="6035040"/>
            <a:ext cx="8321040" cy="768353"/>
            <a:chOff x="0" y="0"/>
            <a:chExt cx="11094720" cy="102447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11094720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11094720" y="1024128"/>
                  </a:lnTo>
                  <a:lnTo>
                    <a:pt x="1109472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42950" y="6152998"/>
            <a:ext cx="752475" cy="619115"/>
            <a:chOff x="0" y="0"/>
            <a:chExt cx="1003300" cy="8254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3300" cy="825500"/>
            </a:xfrm>
            <a:custGeom>
              <a:avLst/>
              <a:gdLst/>
              <a:ahLst/>
              <a:cxnLst/>
              <a:rect l="l" t="t" r="r" b="b"/>
              <a:pathLst>
                <a:path w="1003300" h="825500">
                  <a:moveTo>
                    <a:pt x="0" y="0"/>
                  </a:moveTo>
                  <a:lnTo>
                    <a:pt x="1003300" y="0"/>
                  </a:lnTo>
                  <a:lnTo>
                    <a:pt x="1003300" y="825500"/>
                  </a:lnTo>
                  <a:lnTo>
                    <a:pt x="0" y="82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5" b="-133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8640" y="6094095"/>
            <a:ext cx="8321040" cy="70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 spc="-2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Actuators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48640" y="6803136"/>
            <a:ext cx="8321040" cy="2433323"/>
            <a:chOff x="0" y="0"/>
            <a:chExt cx="11094720" cy="32444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94720" cy="3244469"/>
            </a:xfrm>
            <a:custGeom>
              <a:avLst/>
              <a:gdLst/>
              <a:ahLst/>
              <a:cxnLst/>
              <a:rect l="l" t="t" r="r" b="b"/>
              <a:pathLst>
                <a:path w="11094720" h="3244469">
                  <a:moveTo>
                    <a:pt x="0" y="0"/>
                  </a:moveTo>
                  <a:lnTo>
                    <a:pt x="11094720" y="0"/>
                  </a:lnTo>
                  <a:lnTo>
                    <a:pt x="11094720" y="3244469"/>
                  </a:lnTo>
                  <a:lnTo>
                    <a:pt x="0" y="32444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094720" cy="328253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endParaRPr/>
            </a:p>
            <a:p>
              <a:pPr algn="l">
                <a:lnSpc>
                  <a:spcPts val="2280"/>
                </a:lnSpc>
              </a:pPr>
              <a:endParaRPr/>
            </a:p>
            <a:p>
              <a:pPr marL="939800" lvl="1" indent="-469900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BTS7960 Motor Driver</a:t>
              </a:r>
            </a:p>
            <a:p>
              <a:pPr marL="939800" lvl="1" indent="-469900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DC Motor</a:t>
              </a:r>
            </a:p>
            <a:p>
              <a:pPr marL="939800" lvl="1" indent="-469900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Relay Module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0" y="5867248"/>
            <a:ext cx="8753732" cy="3648218"/>
            <a:chOff x="0" y="0"/>
            <a:chExt cx="11671643" cy="48642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671681" cy="4864354"/>
            </a:xfrm>
            <a:custGeom>
              <a:avLst/>
              <a:gdLst/>
              <a:ahLst/>
              <a:cxnLst/>
              <a:rect l="l" t="t" r="r" b="b"/>
              <a:pathLst>
                <a:path w="11671681" h="4864354">
                  <a:moveTo>
                    <a:pt x="0" y="0"/>
                  </a:moveTo>
                  <a:lnTo>
                    <a:pt x="11671681" y="0"/>
                  </a:lnTo>
                  <a:lnTo>
                    <a:pt x="11671681" y="4864354"/>
                  </a:lnTo>
                  <a:lnTo>
                    <a:pt x="0" y="4864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5" b="-74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9418320" y="6035040"/>
            <a:ext cx="8321040" cy="768353"/>
            <a:chOff x="0" y="0"/>
            <a:chExt cx="11094720" cy="102447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11094720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11094720" y="1024128"/>
                  </a:lnTo>
                  <a:lnTo>
                    <a:pt x="11094720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601200" y="6152998"/>
            <a:ext cx="714375" cy="619115"/>
            <a:chOff x="0" y="0"/>
            <a:chExt cx="952500" cy="82548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52500" cy="825500"/>
            </a:xfrm>
            <a:custGeom>
              <a:avLst/>
              <a:gdLst/>
              <a:ahLst/>
              <a:cxnLst/>
              <a:rect l="l" t="t" r="r" b="b"/>
              <a:pathLst>
                <a:path w="952500" h="825500">
                  <a:moveTo>
                    <a:pt x="0" y="0"/>
                  </a:moveTo>
                  <a:lnTo>
                    <a:pt x="952500" y="0"/>
                  </a:lnTo>
                  <a:lnTo>
                    <a:pt x="952500" y="825500"/>
                  </a:lnTo>
                  <a:lnTo>
                    <a:pt x="0" y="82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01" b="-99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9418320" y="6094095"/>
            <a:ext cx="8321040" cy="70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Alarms &amp; Display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418320" y="6803136"/>
            <a:ext cx="8321040" cy="2433323"/>
            <a:chOff x="0" y="0"/>
            <a:chExt cx="11094720" cy="324443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094720" cy="3244469"/>
            </a:xfrm>
            <a:custGeom>
              <a:avLst/>
              <a:gdLst/>
              <a:ahLst/>
              <a:cxnLst/>
              <a:rect l="l" t="t" r="r" b="b"/>
              <a:pathLst>
                <a:path w="11094720" h="3244469">
                  <a:moveTo>
                    <a:pt x="0" y="0"/>
                  </a:moveTo>
                  <a:lnTo>
                    <a:pt x="11094720" y="0"/>
                  </a:lnTo>
                  <a:lnTo>
                    <a:pt x="11094720" y="3244469"/>
                  </a:lnTo>
                  <a:lnTo>
                    <a:pt x="0" y="32444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1094720" cy="328253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endParaRPr/>
            </a:p>
            <a:p>
              <a:pPr algn="l">
                <a:lnSpc>
                  <a:spcPts val="2280"/>
                </a:lnSpc>
              </a:pPr>
              <a:endParaRPr/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Red, Yellow, Green LEDs</a:t>
              </a:r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Buzzer</a:t>
              </a:r>
            </a:p>
            <a:p>
              <a:pPr marL="834390" lvl="1" indent="-417195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Interface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8" name="TextBox 8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59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DEVKIT SPECIFICATIONS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08050" y="2371088"/>
          <a:ext cx="16459200" cy="7620002"/>
        </p:xfrm>
        <a:graphic>
          <a:graphicData uri="http://schemas.openxmlformats.org/drawingml/2006/table">
            <a:tbl>
              <a:tblPr/>
              <a:tblGrid>
                <a:gridCol w="458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Xtensa LX6 Dual-Core @ 240 MHz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RAM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520 KB SRAM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Flash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MB SPI Flash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 Pins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 programmable GPIO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ADC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12-bit, 18 channels (ADC1&amp; ADC2)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PWM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 independent LEDC channels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I²C / SPI / UART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/ 4 / 3 controllers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RTOS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FreeRTOS v10.x (built into ESP-IDF)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Wi-Fi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802.11 b/g/n 2.4 GHz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Bluetooth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BT 4.2 + BLE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Op. Voltage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3.3V logic, 5V USB input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4034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Op. Temp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-40°C to +85°C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7240">
                <a:tc gridSpan="2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i="1">
                          <a:solidFill>
                            <a:srgbClr val="FFFFFF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Key Advantage: ESP32 runs FreeRTOS natively. Safety-critical tasks are pinned to Core 1 using xTaskCreatePinnedToCore()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i="1">
                          <a:solidFill>
                            <a:srgbClr val="FFFFFF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Key Advantage: ESP32 runs FreeRTOS natively. Safety-critical tasks are pinned to Core 1 using xTaskCreatePinnedToCore()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FREERTOS TASK ARCHITECTURE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3153" y="2355237"/>
            <a:ext cx="3661410" cy="44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-20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 Hierarchy &amp; IPC Objects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19338" y="2988116"/>
          <a:ext cx="17221200" cy="3454400"/>
        </p:xfrm>
        <a:graphic>
          <a:graphicData uri="http://schemas.openxmlformats.org/drawingml/2006/table">
            <a:tbl>
              <a:tblPr/>
              <a:tblGrid>
                <a:gridCol w="312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7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1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2539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Task Name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Priority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Stack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Period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4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Core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IPC Object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312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vAlarmTask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— Highest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2048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ms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Core 1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Semaphore (take)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CA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312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vSensorTask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 — High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3072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 ms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Core 1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Queue (send) + Sem. (give)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12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vMotorTask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— Medium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2048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ms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Core 0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Queue (receive)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925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vDisplayTask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9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— Low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4096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500 ms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Core 0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Queue (peek)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548640" y="8357616"/>
            <a:ext cx="219713" cy="585473"/>
            <a:chOff x="0" y="0"/>
            <a:chExt cx="292951" cy="7806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2608" cy="780288"/>
            </a:xfrm>
            <a:custGeom>
              <a:avLst/>
              <a:gdLst/>
              <a:ahLst/>
              <a:cxnLst/>
              <a:rect l="l" t="t" r="r" b="b"/>
              <a:pathLst>
                <a:path w="292608" h="780288">
                  <a:moveTo>
                    <a:pt x="292608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292608" y="780288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48640" y="9125712"/>
            <a:ext cx="219713" cy="585473"/>
            <a:chOff x="0" y="0"/>
            <a:chExt cx="292951" cy="7806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" cy="780288"/>
            </a:xfrm>
            <a:custGeom>
              <a:avLst/>
              <a:gdLst/>
              <a:ahLst/>
              <a:cxnLst/>
              <a:rect l="l" t="t" r="r" b="b"/>
              <a:pathLst>
                <a:path w="292608" h="780288">
                  <a:moveTo>
                    <a:pt x="292608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292608" y="780288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73153" y="6936762"/>
            <a:ext cx="9867900" cy="267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IPC Objects Used</a:t>
            </a:r>
          </a:p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xSensorQueue </a:t>
            </a:r>
            <a:r>
              <a:rPr lang="en-US" sz="1900" i="1">
                <a:solidFill>
                  <a:srgbClr val="0077B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[Queue (depth 5)] </a:t>
            </a:r>
            <a:r>
              <a:rPr lang="en-US" sz="19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Sensor → Motor &amp; Display:pass SensorData_tstruct</a:t>
            </a:r>
          </a:p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xAlarmSemaphore </a:t>
            </a:r>
            <a:r>
              <a:rPr lang="en-US" sz="1900" i="1">
                <a:solidFill>
                  <a:srgbClr val="0077B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[Binary Semaphore] </a:t>
            </a:r>
            <a:r>
              <a:rPr lang="en-US" sz="19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Sensor task gives → Alarm task takes for emergency stop</a:t>
            </a:r>
          </a:p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xMotorMutex </a:t>
            </a:r>
            <a:r>
              <a:rPr lang="en-US" sz="1900" i="1">
                <a:solidFill>
                  <a:srgbClr val="0077B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[Mutex] </a:t>
            </a:r>
            <a:r>
              <a:rPr lang="en-US" sz="19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Protects PWM write access between Motor &amp; Alarm tasks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48640" y="7589520"/>
            <a:ext cx="219713" cy="585473"/>
            <a:chOff x="0" y="0"/>
            <a:chExt cx="292951" cy="7806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2608" cy="780288"/>
            </a:xfrm>
            <a:custGeom>
              <a:avLst/>
              <a:gdLst/>
              <a:ahLst/>
              <a:cxnLst/>
              <a:rect l="l" t="t" r="r" b="b"/>
              <a:pathLst>
                <a:path w="292608" h="780288">
                  <a:moveTo>
                    <a:pt x="292608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292608" y="780288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8" name="TextBox 8" descr="$PPTXTitle"/>
          <p:cNvSpPr txBox="1"/>
          <p:nvPr/>
        </p:nvSpPr>
        <p:spPr>
          <a:xfrm>
            <a:off x="890264" y="440693"/>
            <a:ext cx="11248387" cy="941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CIRCUIT CONNECTIONS — PIN MAPPING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3291840" y="7276690"/>
            <a:ext cx="14996389" cy="1264825"/>
          </a:xfrm>
          <a:custGeom>
            <a:avLst/>
            <a:gdLst/>
            <a:ahLst/>
            <a:cxnLst/>
            <a:rect l="l" t="t" r="r" b="b"/>
            <a:pathLst>
              <a:path w="14996389" h="1264825">
                <a:moveTo>
                  <a:pt x="0" y="0"/>
                </a:moveTo>
                <a:lnTo>
                  <a:pt x="14996389" y="0"/>
                </a:lnTo>
                <a:lnTo>
                  <a:pt x="14996389" y="1264825"/>
                </a:lnTo>
                <a:lnTo>
                  <a:pt x="0" y="126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48640" y="9363456"/>
            <a:ext cx="17190720" cy="640080"/>
            <a:chOff x="0" y="0"/>
            <a:chExt cx="2292096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920961" cy="853440"/>
            </a:xfrm>
            <a:custGeom>
              <a:avLst/>
              <a:gdLst/>
              <a:ahLst/>
              <a:cxnLst/>
              <a:rect l="l" t="t" r="r" b="b"/>
              <a:pathLst>
                <a:path w="22920961" h="853440">
                  <a:moveTo>
                    <a:pt x="22920961" y="0"/>
                  </a:moveTo>
                  <a:lnTo>
                    <a:pt x="0" y="0"/>
                  </a:lnTo>
                  <a:lnTo>
                    <a:pt x="0" y="853440"/>
                  </a:lnTo>
                  <a:lnTo>
                    <a:pt x="22920961" y="853440"/>
                  </a:lnTo>
                  <a:lnTo>
                    <a:pt x="22920961" y="0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62000" y="9429750"/>
            <a:ext cx="504825" cy="542935"/>
            <a:chOff x="0" y="0"/>
            <a:chExt cx="673100" cy="7239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0" y="0"/>
                  </a:moveTo>
                  <a:lnTo>
                    <a:pt x="673100" y="0"/>
                  </a:lnTo>
                  <a:lnTo>
                    <a:pt x="6731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" r="-64" b="-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48640" y="9413624"/>
            <a:ext cx="17190720" cy="58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GPIO34 &amp; GPIO35 are input-only pins — ideal forADC sensors. Neverdrive them as outputs.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317472" y="8699087"/>
            <a:ext cx="14970757" cy="727710"/>
            <a:chOff x="0" y="0"/>
            <a:chExt cx="19961009" cy="970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60717" cy="969391"/>
            </a:xfrm>
            <a:custGeom>
              <a:avLst/>
              <a:gdLst/>
              <a:ahLst/>
              <a:cxnLst/>
              <a:rect l="l" t="t" r="r" b="b"/>
              <a:pathLst>
                <a:path w="19960717" h="969391">
                  <a:moveTo>
                    <a:pt x="19960717" y="0"/>
                  </a:moveTo>
                  <a:lnTo>
                    <a:pt x="7336409" y="0"/>
                  </a:lnTo>
                  <a:lnTo>
                    <a:pt x="0" y="0"/>
                  </a:lnTo>
                  <a:lnTo>
                    <a:pt x="0" y="969391"/>
                  </a:lnTo>
                  <a:lnTo>
                    <a:pt x="7336409" y="969391"/>
                  </a:lnTo>
                  <a:lnTo>
                    <a:pt x="19960717" y="969391"/>
                  </a:lnTo>
                  <a:lnTo>
                    <a:pt x="1996071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317472" y="5854294"/>
            <a:ext cx="14970757" cy="711203"/>
            <a:chOff x="0" y="0"/>
            <a:chExt cx="19961009" cy="9482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60717" cy="948309"/>
            </a:xfrm>
            <a:custGeom>
              <a:avLst/>
              <a:gdLst/>
              <a:ahLst/>
              <a:cxnLst/>
              <a:rect l="l" t="t" r="r" b="b"/>
              <a:pathLst>
                <a:path w="19960717" h="948309">
                  <a:moveTo>
                    <a:pt x="19960717" y="0"/>
                  </a:moveTo>
                  <a:lnTo>
                    <a:pt x="7336409" y="0"/>
                  </a:lnTo>
                  <a:lnTo>
                    <a:pt x="0" y="0"/>
                  </a:lnTo>
                  <a:lnTo>
                    <a:pt x="0" y="948309"/>
                  </a:lnTo>
                  <a:lnTo>
                    <a:pt x="7336409" y="948309"/>
                  </a:lnTo>
                  <a:lnTo>
                    <a:pt x="19960717" y="948309"/>
                  </a:lnTo>
                  <a:lnTo>
                    <a:pt x="1996071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317472" y="4431887"/>
            <a:ext cx="14970757" cy="712470"/>
            <a:chOff x="0" y="0"/>
            <a:chExt cx="19961009" cy="949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960717" cy="948309"/>
            </a:xfrm>
            <a:custGeom>
              <a:avLst/>
              <a:gdLst/>
              <a:ahLst/>
              <a:cxnLst/>
              <a:rect l="l" t="t" r="r" b="b"/>
              <a:pathLst>
                <a:path w="19960717" h="948309">
                  <a:moveTo>
                    <a:pt x="19960717" y="0"/>
                  </a:moveTo>
                  <a:lnTo>
                    <a:pt x="7336409" y="0"/>
                  </a:lnTo>
                  <a:lnTo>
                    <a:pt x="0" y="0"/>
                  </a:lnTo>
                  <a:lnTo>
                    <a:pt x="0" y="948309"/>
                  </a:lnTo>
                  <a:lnTo>
                    <a:pt x="7336409" y="948309"/>
                  </a:lnTo>
                  <a:lnTo>
                    <a:pt x="19960717" y="948309"/>
                  </a:lnTo>
                  <a:lnTo>
                    <a:pt x="1996071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3317472" y="3009490"/>
            <a:ext cx="14970757" cy="711203"/>
            <a:chOff x="0" y="0"/>
            <a:chExt cx="19961009" cy="9482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60717" cy="948309"/>
            </a:xfrm>
            <a:custGeom>
              <a:avLst/>
              <a:gdLst/>
              <a:ahLst/>
              <a:cxnLst/>
              <a:rect l="l" t="t" r="r" b="b"/>
              <a:pathLst>
                <a:path w="19960717" h="948309">
                  <a:moveTo>
                    <a:pt x="19960717" y="0"/>
                  </a:moveTo>
                  <a:lnTo>
                    <a:pt x="7336409" y="0"/>
                  </a:lnTo>
                  <a:lnTo>
                    <a:pt x="0" y="0"/>
                  </a:lnTo>
                  <a:lnTo>
                    <a:pt x="0" y="948309"/>
                  </a:lnTo>
                  <a:lnTo>
                    <a:pt x="7336409" y="948309"/>
                  </a:lnTo>
                  <a:lnTo>
                    <a:pt x="19960717" y="948309"/>
                  </a:lnTo>
                  <a:lnTo>
                    <a:pt x="1996071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0" y="2285996"/>
          <a:ext cx="18237200" cy="7178215"/>
        </p:xfrm>
        <a:graphic>
          <a:graphicData uri="http://schemas.openxmlformats.org/drawingml/2006/table">
            <a:tbl>
              <a:tblPr/>
              <a:tblGrid>
                <a:gridCol w="331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67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GPIO14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Proximity Sensor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RPM OF MOTOR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GPIO32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Potentiometer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Manual setpoint (0–3.3V)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06D6A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GPIO35/34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2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BMP280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Shared I²C SDA/SCL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GPIO33/25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2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BTS7960 RPWM/LPWM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PWM speed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GPIO26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BTS7960 R_EN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direction control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656">
                <a:tc rowSpan="2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GPIO37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BTS7960 L_EN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direction control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660">
                <a:tc v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GPIO37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EF476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GPIO23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Relay IN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Emergency shutdown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754">
                <a:tc rowSpan="2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EF476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GPIO22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Active Buzzer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Alarm audio output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563">
                <a:tc v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EF476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GPIO22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8181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EF476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GPIO5/18/19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 / Yellow / Green LED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Critical / Warning / Normal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0268"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20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GPIO4/52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HC-SR04 TRIG / ECHO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AB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8EAAB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Ultrasonic tank level</a:t>
                      </a:r>
                      <a:endParaRPr lang="en-US" sz="110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WORKING PRINCIPLE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0264" y="2355237"/>
            <a:ext cx="1949453" cy="44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-260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Boot Sequence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40080" y="3108960"/>
            <a:ext cx="513083" cy="513083"/>
            <a:chOff x="0" y="0"/>
            <a:chExt cx="684111" cy="684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17855" y="3174387"/>
            <a:ext cx="167640" cy="35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7750" y="2914498"/>
            <a:ext cx="8582101" cy="1000135"/>
            <a:chOff x="0" y="0"/>
            <a:chExt cx="11442802" cy="13335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42827" cy="1333500"/>
            </a:xfrm>
            <a:custGeom>
              <a:avLst/>
              <a:gdLst/>
              <a:ahLst/>
              <a:cxnLst/>
              <a:rect l="l" t="t" r="r" b="b"/>
              <a:pathLst>
                <a:path w="11442827" h="1333500">
                  <a:moveTo>
                    <a:pt x="0" y="0"/>
                  </a:moveTo>
                  <a:lnTo>
                    <a:pt x="11442827" y="0"/>
                  </a:lnTo>
                  <a:lnTo>
                    <a:pt x="11442827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0" b="-42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35024" y="3090672"/>
            <a:ext cx="8138160" cy="548640"/>
            <a:chOff x="0" y="0"/>
            <a:chExt cx="1085088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powers on — setup() initializes I²C, ADC, PWM channels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0080" y="3877056"/>
            <a:ext cx="513083" cy="513083"/>
            <a:chOff x="0" y="0"/>
            <a:chExt cx="684111" cy="6841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17855" y="3945912"/>
            <a:ext cx="167640" cy="35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47750" y="3676498"/>
            <a:ext cx="8582101" cy="1000135"/>
            <a:chOff x="0" y="0"/>
            <a:chExt cx="11442802" cy="13335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42827" cy="1333500"/>
            </a:xfrm>
            <a:custGeom>
              <a:avLst/>
              <a:gdLst/>
              <a:ahLst/>
              <a:cxnLst/>
              <a:rect l="l" t="t" r="r" b="b"/>
              <a:pathLst>
                <a:path w="11442827" h="1333500">
                  <a:moveTo>
                    <a:pt x="0" y="0"/>
                  </a:moveTo>
                  <a:lnTo>
                    <a:pt x="11442827" y="0"/>
                  </a:lnTo>
                  <a:lnTo>
                    <a:pt x="11442827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20" b="-42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35024" y="3858768"/>
            <a:ext cx="8138160" cy="548640"/>
            <a:chOff x="0" y="0"/>
            <a:chExt cx="1085088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GPIO, PWM, ADC initialized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0080" y="4645152"/>
            <a:ext cx="513083" cy="513083"/>
            <a:chOff x="0" y="0"/>
            <a:chExt cx="684111" cy="6841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817855" y="4711094"/>
            <a:ext cx="167640" cy="35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47750" y="4457548"/>
            <a:ext cx="8582101" cy="1000135"/>
            <a:chOff x="0" y="0"/>
            <a:chExt cx="11442802" cy="13335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42827" cy="1333500"/>
            </a:xfrm>
            <a:custGeom>
              <a:avLst/>
              <a:gdLst/>
              <a:ahLst/>
              <a:cxnLst/>
              <a:rect l="l" t="t" r="r" b="b"/>
              <a:pathLst>
                <a:path w="11442827" h="1333500">
                  <a:moveTo>
                    <a:pt x="0" y="0"/>
                  </a:moveTo>
                  <a:lnTo>
                    <a:pt x="11442827" y="0"/>
                  </a:lnTo>
                  <a:lnTo>
                    <a:pt x="11442827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20" b="-420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335024" y="4626864"/>
            <a:ext cx="8138160" cy="548640"/>
            <a:chOff x="0" y="0"/>
            <a:chExt cx="1085088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Wi-Fi and WebSocket server started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0080" y="5413219"/>
            <a:ext cx="513083" cy="513083"/>
            <a:chOff x="0" y="0"/>
            <a:chExt cx="684111" cy="6841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817855" y="5483228"/>
            <a:ext cx="16764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7750" y="5219548"/>
            <a:ext cx="8582101" cy="1000135"/>
            <a:chOff x="0" y="0"/>
            <a:chExt cx="11442802" cy="13335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42827" cy="1333500"/>
            </a:xfrm>
            <a:custGeom>
              <a:avLst/>
              <a:gdLst/>
              <a:ahLst/>
              <a:cxnLst/>
              <a:rect l="l" t="t" r="r" b="b"/>
              <a:pathLst>
                <a:path w="11442827" h="1333500">
                  <a:moveTo>
                    <a:pt x="0" y="0"/>
                  </a:moveTo>
                  <a:lnTo>
                    <a:pt x="11442827" y="0"/>
                  </a:lnTo>
                  <a:lnTo>
                    <a:pt x="11442827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0" b="-420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335024" y="5394960"/>
            <a:ext cx="8138160" cy="548640"/>
            <a:chOff x="0" y="0"/>
            <a:chExt cx="1085088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Sensors begin reading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6181344"/>
            <a:ext cx="513083" cy="513083"/>
            <a:chOff x="0" y="0"/>
            <a:chExt cx="684111" cy="6841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817855" y="6254753"/>
            <a:ext cx="16764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47750" y="5981548"/>
            <a:ext cx="8582101" cy="1000135"/>
            <a:chOff x="0" y="0"/>
            <a:chExt cx="11442802" cy="133351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42827" cy="1333500"/>
            </a:xfrm>
            <a:custGeom>
              <a:avLst/>
              <a:gdLst/>
              <a:ahLst/>
              <a:cxnLst/>
              <a:rect l="l" t="t" r="r" b="b"/>
              <a:pathLst>
                <a:path w="11442827" h="1333500">
                  <a:moveTo>
                    <a:pt x="0" y="0"/>
                  </a:moveTo>
                  <a:lnTo>
                    <a:pt x="11442827" y="0"/>
                  </a:lnTo>
                  <a:lnTo>
                    <a:pt x="11442827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20" b="-420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335024" y="6163056"/>
            <a:ext cx="8138160" cy="548640"/>
            <a:chOff x="0" y="0"/>
            <a:chExt cx="1085088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connects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0080" y="6949411"/>
            <a:ext cx="513083" cy="513083"/>
            <a:chOff x="0" y="0"/>
            <a:chExt cx="684111" cy="6841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341376" y="0"/>
                  </a:moveTo>
                  <a:lnTo>
                    <a:pt x="208407" y="26797"/>
                  </a:lnTo>
                  <a:lnTo>
                    <a:pt x="99949" y="99949"/>
                  </a:lnTo>
                  <a:lnTo>
                    <a:pt x="26797" y="208407"/>
                  </a:lnTo>
                  <a:lnTo>
                    <a:pt x="0" y="341376"/>
                  </a:lnTo>
                  <a:lnTo>
                    <a:pt x="26797" y="474345"/>
                  </a:lnTo>
                  <a:lnTo>
                    <a:pt x="99949" y="582803"/>
                  </a:lnTo>
                  <a:lnTo>
                    <a:pt x="208407" y="655955"/>
                  </a:lnTo>
                  <a:lnTo>
                    <a:pt x="341376" y="682752"/>
                  </a:lnTo>
                  <a:lnTo>
                    <a:pt x="474345" y="655955"/>
                  </a:lnTo>
                  <a:lnTo>
                    <a:pt x="582803" y="582803"/>
                  </a:lnTo>
                  <a:lnTo>
                    <a:pt x="655955" y="474345"/>
                  </a:lnTo>
                  <a:lnTo>
                    <a:pt x="682752" y="341376"/>
                  </a:lnTo>
                  <a:lnTo>
                    <a:pt x="655955" y="208407"/>
                  </a:lnTo>
                  <a:lnTo>
                    <a:pt x="582803" y="99949"/>
                  </a:lnTo>
                  <a:lnTo>
                    <a:pt x="474345" y="26797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817855" y="7023097"/>
            <a:ext cx="16764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-100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47750" y="6762874"/>
            <a:ext cx="8582101" cy="981075"/>
            <a:chOff x="0" y="0"/>
            <a:chExt cx="11442802" cy="1308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42827" cy="1308100"/>
            </a:xfrm>
            <a:custGeom>
              <a:avLst/>
              <a:gdLst/>
              <a:ahLst/>
              <a:cxnLst/>
              <a:rect l="l" t="t" r="r" b="b"/>
              <a:pathLst>
                <a:path w="11442827" h="1308100">
                  <a:moveTo>
                    <a:pt x="0" y="0"/>
                  </a:moveTo>
                  <a:lnTo>
                    <a:pt x="11442827" y="0"/>
                  </a:lnTo>
                  <a:lnTo>
                    <a:pt x="11442827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30" b="-430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335024" y="6931152"/>
            <a:ext cx="8138160" cy="548640"/>
            <a:chOff x="0" y="0"/>
            <a:chExt cx="10850880" cy="731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850880" cy="731520"/>
            </a:xfrm>
            <a:custGeom>
              <a:avLst/>
              <a:gdLst/>
              <a:ahLst/>
              <a:cxnLst/>
              <a:rect l="l" t="t" r="r" b="b"/>
              <a:pathLst>
                <a:path w="10850880" h="731520">
                  <a:moveTo>
                    <a:pt x="0" y="0"/>
                  </a:moveTo>
                  <a:lnTo>
                    <a:pt x="10850880" y="0"/>
                  </a:lnTo>
                  <a:lnTo>
                    <a:pt x="10850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0850880" cy="76962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control loop starts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9860280" y="2355237"/>
            <a:ext cx="2221230" cy="44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Alarm Zone Logic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692640" y="5760720"/>
            <a:ext cx="8046720" cy="914400"/>
            <a:chOff x="0" y="0"/>
            <a:chExt cx="1072896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10728960" y="0"/>
                  </a:moveTo>
                  <a:lnTo>
                    <a:pt x="7315200" y="0"/>
                  </a:lnTo>
                  <a:lnTo>
                    <a:pt x="4632960" y="0"/>
                  </a:lnTo>
                  <a:lnTo>
                    <a:pt x="2194560" y="0"/>
                  </a:lnTo>
                  <a:lnTo>
                    <a:pt x="0" y="0"/>
                  </a:lnTo>
                  <a:lnTo>
                    <a:pt x="0" y="1219200"/>
                  </a:lnTo>
                  <a:lnTo>
                    <a:pt x="2194560" y="1219200"/>
                  </a:lnTo>
                  <a:lnTo>
                    <a:pt x="4632960" y="1219200"/>
                  </a:lnTo>
                  <a:lnTo>
                    <a:pt x="7315200" y="1219200"/>
                  </a:lnTo>
                  <a:lnTo>
                    <a:pt x="10728960" y="1219200"/>
                  </a:lnTo>
                  <a:lnTo>
                    <a:pt x="10728960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410700" y="6439024"/>
            <a:ext cx="8486966" cy="2657342"/>
            <a:chOff x="0" y="0"/>
            <a:chExt cx="11315954" cy="354312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315954" cy="3543173"/>
            </a:xfrm>
            <a:custGeom>
              <a:avLst/>
              <a:gdLst/>
              <a:ahLst/>
              <a:cxnLst/>
              <a:rect l="l" t="t" r="r" b="b"/>
              <a:pathLst>
                <a:path w="11315954" h="3543173">
                  <a:moveTo>
                    <a:pt x="0" y="0"/>
                  </a:moveTo>
                  <a:lnTo>
                    <a:pt x="11315954" y="0"/>
                  </a:lnTo>
                  <a:lnTo>
                    <a:pt x="11315954" y="3543173"/>
                  </a:lnTo>
                  <a:lnTo>
                    <a:pt x="0" y="3543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26" b="-125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9692640" y="6620256"/>
            <a:ext cx="8046720" cy="2194560"/>
            <a:chOff x="0" y="0"/>
            <a:chExt cx="10728960" cy="29260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728960" cy="2926080"/>
            </a:xfrm>
            <a:custGeom>
              <a:avLst/>
              <a:gdLst/>
              <a:ahLst/>
              <a:cxnLst/>
              <a:rect l="l" t="t" r="r" b="b"/>
              <a:pathLst>
                <a:path w="10728960" h="2926080">
                  <a:moveTo>
                    <a:pt x="10728960" y="0"/>
                  </a:moveTo>
                  <a:lnTo>
                    <a:pt x="0" y="0"/>
                  </a:lnTo>
                  <a:lnTo>
                    <a:pt x="0" y="2926080"/>
                  </a:lnTo>
                  <a:lnTo>
                    <a:pt x="10728960" y="2926080"/>
                  </a:lnTo>
                  <a:lnTo>
                    <a:pt x="10728960" y="0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aphicFrame>
        <p:nvGraphicFramePr>
          <p:cNvPr id="62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5212"/>
              </p:ext>
            </p:extLst>
          </p:nvPr>
        </p:nvGraphicFramePr>
        <p:xfrm>
          <a:off x="9686290" y="3011144"/>
          <a:ext cx="8001000" cy="5791199"/>
        </p:xfrm>
        <a:graphic>
          <a:graphicData uri="http://schemas.openxmlformats.org/drawingml/2006/table">
            <a:tbl>
              <a:tblPr/>
              <a:tblGrid>
                <a:gridCol w="164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4792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4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Zone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59"/>
                        </a:lnSpc>
                        <a:defRPr/>
                      </a:pPr>
                      <a:r>
                        <a:rPr lang="en-US" sz="2400" b="1" spc="-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Temperatu re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Pressure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Action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792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0D1B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Normal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60°C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1.1 bar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0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Green LED;</a:t>
                      </a:r>
                      <a:endParaRPr lang="en-US" sz="1100"/>
                    </a:p>
                    <a:p>
                      <a:pPr algn="l">
                        <a:lnSpc>
                          <a:spcPts val="2870"/>
                        </a:lnSpc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 PWM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792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0D1B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Warning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60–80°C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1.1–1.3 bar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59"/>
                        </a:lnSpc>
                        <a:defRPr/>
                      </a:pPr>
                      <a:r>
                        <a:rPr lang="en-US" sz="2400" spc="-40" dirty="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Yellow LED; 85% speed</a:t>
                      </a:r>
                      <a:endParaRPr lang="en-US" sz="11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295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ALARM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spc="-4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80°C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1.3 bar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 LED + Buzzer</a:t>
                      </a:r>
                      <a:endParaRPr lang="en-US" sz="1100"/>
                    </a:p>
                    <a:p>
                      <a:pPr algn="l">
                        <a:lnSpc>
                          <a:spcPts val="2859"/>
                        </a:lnSpc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 Relay + STOP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4528">
                <a:tc gridSpan="4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 dirty="0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Motor PI Control</a:t>
                      </a:r>
                      <a:endParaRPr lang="en-US" sz="1100" dirty="0"/>
                    </a:p>
                    <a:p>
                      <a:pPr algn="l">
                        <a:lnSpc>
                          <a:spcPts val="2280"/>
                        </a:lnSpc>
                      </a:pPr>
                      <a:endParaRPr lang="en-US" sz="1100" dirty="0"/>
                    </a:p>
                    <a:p>
                      <a:pPr algn="l">
                        <a:lnSpc>
                          <a:spcPts val="2260"/>
                        </a:lnSpc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Proportional-Integral controller regulates motor (cooling pump)speed based on temperature. As temp rises toward warning zone, motor ramps up. On </a:t>
                      </a:r>
                      <a:r>
                        <a:rPr lang="en-US" sz="1900" dirty="0" err="1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alarm:motor</a:t>
                      </a: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halts — requires manual serial reset.</a:t>
                      </a:r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Motor PI Control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2260"/>
                        </a:lnSpc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Proportional-Integral controller regulates motor (cooling pump)speed based on temperature. As temp rises toward warning zone, motor ramps up. On alarm:motor halts — requires manual serial reset.</a:t>
                      </a:r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Motor PI Control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2260"/>
                        </a:lnSpc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Proportional-Integral controller regulates motor (cooling pump)speed based on temperature. As temp rises toward warning zone, motor ramps up. On alarm:motor halts — requires manual serial reset.</a:t>
                      </a:r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Motor PI Control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2260"/>
                        </a:lnSpc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Proportional-Integral controller regulates motor (cooling pump)speed based on temperature. As temp rises toward warning zone, motor ramps up. On alarm:motor halts — requires manual serial reset.</a:t>
                      </a:r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8" name="TextBox 8" descr="$PPTXTitle"/>
          <p:cNvSpPr txBox="1"/>
          <p:nvPr/>
        </p:nvSpPr>
        <p:spPr>
          <a:xfrm>
            <a:off x="890264" y="412118"/>
            <a:ext cx="5791200" cy="10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 &amp; RESULTS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62000" y="9429750"/>
            <a:ext cx="638175" cy="542925"/>
            <a:chOff x="0" y="0"/>
            <a:chExt cx="850900" cy="723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0900" cy="723900"/>
            </a:xfrm>
            <a:custGeom>
              <a:avLst/>
              <a:gdLst/>
              <a:ahLst/>
              <a:cxnLst/>
              <a:rect l="l" t="t" r="r" b="b"/>
              <a:pathLst>
                <a:path w="850900" h="723900">
                  <a:moveTo>
                    <a:pt x="0" y="0"/>
                  </a:moveTo>
                  <a:lnTo>
                    <a:pt x="850900" y="0"/>
                  </a:lnTo>
                  <a:lnTo>
                    <a:pt x="850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8" b="-12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328414" y="9777727"/>
            <a:ext cx="674370" cy="37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 spc="-2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14.6%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2290" y="2188184"/>
          <a:ext cx="17170400" cy="7721600"/>
        </p:xfrm>
        <a:graphic>
          <a:graphicData uri="http://schemas.openxmlformats.org/drawingml/2006/table">
            <a:tbl>
              <a:tblPr/>
              <a:tblGrid>
                <a:gridCol w="65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4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Scenario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Result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2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Observation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Power-on (25°C normal)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Green LED, 30% PWM, OLED readings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 spc="-20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All tasks initialized within 2 ms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spc="-4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 &gt; 80°C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 LED, buzzer, relay, motor stop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Alarm triggered within 10 ms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Pressure &gt; 1.3 bar (BMP280)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Same alarm actions as Test 2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Dual-threshold protection confirmed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Return to normal temp &lt; 60°C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Green LED, motor restarts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 spc="-20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Manual serial reset required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Serial monitor — normal ops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Sensor data every 50 ms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Clean UART @ 115200 baud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0255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39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Web UI will show during alarm state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ALARM in red blink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 spc="-20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Display updates on 500 ms cycle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128"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 spc="-99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Disconnect BMP280 mid-run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Last known value, error log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marL="458470" lvl="1" indent="-229235" algn="r">
                        <a:lnSpc>
                          <a:spcPts val="22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00" b="1" spc="-40">
                          <a:solidFill>
                            <a:srgbClr val="15572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1">
                          <a:solidFill>
                            <a:srgbClr val="8EAAB9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No crash — graceful degradation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9687">
                <a:tc gridSpan="5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Utilization: Alarm 5.0% + Sensor 6.0% + Motor 2.0% + Display 1.6% =	— Well ʷᶦᵗʰᶦⁿ RMS bound of 69.3% for 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Utilization: Alarm 5.0% + Sensor 6.0% + Motor 2.0% + Display 1.6% =	— Well ʷᶦᵗʰᶦⁿ RMS bound of 69.3% for 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Utilization: Alarm 5.0% + Sensor 6.0% + Motor 2.0% + Display 1.6% =	— Well ʷᶦᵗʰᶦⁿ RMS bound of 69.3% for 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Utilization: Alarm 5.0% + Sensor 6.0% + Motor 2.0% + Display 1.6% =	— Well ʷᶦᵗʰᶦⁿ RMS bound of 69.3% for 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Utilization: Alarm 5.0% + Sensor 6.0% + Motor 2.0% + Display 1.6% =	— Well ʷᶦᵗʰᶦⁿ RMS bound of 69.3% for 4</a:t>
                      </a:r>
                      <a:endParaRPr lang="en-US" sz="11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937481" y="9777727"/>
            <a:ext cx="571500" cy="37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 spc="-2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11033760"/>
                  </a:moveTo>
                  <a:lnTo>
                    <a:pt x="24384000" y="1103376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10337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24384000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24384000" y="26822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id="6" name="TextBox 6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APPLICATIONS &amp; 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01168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24384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24384000" y="1219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90264" y="2329844"/>
            <a:ext cx="1908810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spc="-20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2895448"/>
            <a:ext cx="8677427" cy="6848646"/>
            <a:chOff x="0" y="0"/>
            <a:chExt cx="11569903" cy="91315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69954" cy="9131554"/>
            </a:xfrm>
            <a:custGeom>
              <a:avLst/>
              <a:gdLst/>
              <a:ahLst/>
              <a:cxnLst/>
              <a:rect l="l" t="t" r="r" b="b"/>
              <a:pathLst>
                <a:path w="11569954" h="9131554">
                  <a:moveTo>
                    <a:pt x="0" y="0"/>
                  </a:moveTo>
                  <a:lnTo>
                    <a:pt x="11569954" y="0"/>
                  </a:lnTo>
                  <a:lnTo>
                    <a:pt x="11569954" y="9131554"/>
                  </a:lnTo>
                  <a:lnTo>
                    <a:pt x="0" y="9131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" b="-1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31520" y="3072384"/>
            <a:ext cx="8229600" cy="6400800"/>
            <a:chOff x="0" y="0"/>
            <a:chExt cx="10972800" cy="853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0" cy="8534400"/>
            </a:xfrm>
            <a:custGeom>
              <a:avLst/>
              <a:gdLst/>
              <a:ahLst/>
              <a:cxnLst/>
              <a:rect l="l" t="t" r="r" b="b"/>
              <a:pathLst>
                <a:path w="10972800" h="85344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972800" cy="85820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boiler / furnace temperature control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Chemical plant — pressure vessel safety shutdown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treatment — pump &amp; level sensor control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HVAC — multi-zone temperature management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Conveyor belt speed regulation with fault detection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 processing — cold chain temperature monitoring</a:t>
              </a:r>
            </a:p>
            <a:p>
              <a:pPr marL="965200" lvl="1" indent="-482600" algn="l">
                <a:lnSpc>
                  <a:spcPts val="252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Educational RTOS lab experiments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77400" y="2329844"/>
            <a:ext cx="1692907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spc="-20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20200" y="2895600"/>
            <a:ext cx="8677427" cy="4657849"/>
            <a:chOff x="0" y="0"/>
            <a:chExt cx="11569903" cy="62104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569954" cy="6210427"/>
            </a:xfrm>
            <a:custGeom>
              <a:avLst/>
              <a:gdLst/>
              <a:ahLst/>
              <a:cxnLst/>
              <a:rect l="l" t="t" r="r" b="b"/>
              <a:pathLst>
                <a:path w="11569954" h="6210427">
                  <a:moveTo>
                    <a:pt x="0" y="0"/>
                  </a:moveTo>
                  <a:lnTo>
                    <a:pt x="11569954" y="0"/>
                  </a:lnTo>
                  <a:lnTo>
                    <a:pt x="11569954" y="6210427"/>
                  </a:lnTo>
                  <a:lnTo>
                    <a:pt x="0" y="621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" b="-4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509760" y="3072384"/>
            <a:ext cx="8229600" cy="4206240"/>
            <a:chOff x="0" y="0"/>
            <a:chExt cx="10972800" cy="56083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5608320"/>
            </a:xfrm>
            <a:custGeom>
              <a:avLst/>
              <a:gdLst/>
              <a:ahLst/>
              <a:cxnLst/>
              <a:rect l="l" t="t" r="r" b="b"/>
              <a:pathLst>
                <a:path w="10972800" h="5608320">
                  <a:moveTo>
                    <a:pt x="0" y="0"/>
                  </a:moveTo>
                  <a:lnTo>
                    <a:pt x="10972800" y="0"/>
                  </a:lnTo>
                  <a:lnTo>
                    <a:pt x="109728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B3A5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972800" cy="56559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65"/>
                </a:lnSpc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demonstrates a real-time industrial control system using ESP32 and a Web Dashboard.</a:t>
              </a:r>
            </a:p>
            <a:p>
              <a:pPr algn="l">
                <a:lnSpc>
                  <a:spcPts val="2500"/>
                </a:lnSpc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provides:</a:t>
              </a:r>
            </a:p>
            <a:p>
              <a:pPr marL="900430" lvl="1" indent="-450215" algn="l">
                <a:lnSpc>
                  <a:spcPts val="248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monitoring</a:t>
              </a:r>
            </a:p>
            <a:p>
              <a:pPr marL="900430" lvl="1" indent="-450215" algn="l">
                <a:lnSpc>
                  <a:spcPts val="248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Remote control</a:t>
              </a:r>
            </a:p>
            <a:p>
              <a:pPr marL="900430" lvl="1" indent="-450215" algn="l">
                <a:lnSpc>
                  <a:spcPts val="2500"/>
                </a:lnSpc>
                <a:buFont typeface="Arial"/>
                <a:buChar char="•"/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Safety automation</a:t>
              </a:r>
            </a:p>
            <a:p>
              <a:pPr marL="900430" lvl="1" indent="-450215" algn="l">
                <a:lnSpc>
                  <a:spcPts val="2520"/>
                </a:lnSpc>
              </a:pPr>
              <a:r>
                <a:rPr lang="en-US" sz="21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WebSocket ensures fast communication.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20200" y="7296274"/>
            <a:ext cx="8677427" cy="2543042"/>
            <a:chOff x="0" y="0"/>
            <a:chExt cx="11569903" cy="33907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569954" cy="3390773"/>
            </a:xfrm>
            <a:custGeom>
              <a:avLst/>
              <a:gdLst/>
              <a:ahLst/>
              <a:cxnLst/>
              <a:rect l="l" t="t" r="r" b="b"/>
              <a:pathLst>
                <a:path w="11569954" h="3390773">
                  <a:moveTo>
                    <a:pt x="0" y="0"/>
                  </a:moveTo>
                  <a:lnTo>
                    <a:pt x="11569954" y="0"/>
                  </a:lnTo>
                  <a:lnTo>
                    <a:pt x="11569954" y="3390773"/>
                  </a:lnTo>
                  <a:lnTo>
                    <a:pt x="0" y="3390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5" b="-134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509760" y="7461504"/>
            <a:ext cx="8229600" cy="2103120"/>
            <a:chOff x="0" y="0"/>
            <a:chExt cx="10972800" cy="2804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0" cy="2804160"/>
            </a:xfrm>
            <a:custGeom>
              <a:avLst/>
              <a:gdLst/>
              <a:ahLst/>
              <a:cxnLst/>
              <a:rect l="l" t="t" r="r" b="b"/>
              <a:pathLst>
                <a:path w="10972800" h="280416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972800" cy="285178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640"/>
                </a:lnSpc>
              </a:pPr>
              <a:r>
                <a:rPr lang="en-US" sz="2200" b="1" spc="-2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  <a:p>
              <a:pPr marL="924558" lvl="1" indent="-462279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integration</a:t>
              </a:r>
            </a:p>
            <a:p>
              <a:pPr marL="924558" lvl="1" indent="-462279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</a:t>
              </a:r>
            </a:p>
            <a:p>
              <a:pPr marL="924558" lvl="1" indent="-462279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logging</a:t>
              </a:r>
            </a:p>
            <a:p>
              <a:pPr marL="924558" lvl="1" indent="-462279" algn="l">
                <a:lnSpc>
                  <a:spcPts val="2280"/>
                </a:lnSpc>
                <a:buFont typeface="Arial"/>
                <a:buChar char="•"/>
              </a:pPr>
              <a:r>
                <a:rPr lang="en-US" sz="1900" spc="-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prediction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 descr="$PPTXTitle"/>
          <p:cNvSpPr txBox="1"/>
          <p:nvPr/>
        </p:nvSpPr>
        <p:spPr>
          <a:xfrm>
            <a:off x="890264" y="421643"/>
            <a:ext cx="11248387" cy="96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78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DASHBOARD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011680"/>
            <a:ext cx="18288000" cy="8275320"/>
            <a:chOff x="0" y="0"/>
            <a:chExt cx="24384000" cy="11033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1033760"/>
            </a:xfrm>
            <a:custGeom>
              <a:avLst/>
              <a:gdLst/>
              <a:ahLst/>
              <a:cxnLst/>
              <a:rect l="l" t="t" r="r" b="b"/>
              <a:pathLst>
                <a:path w="24384000" h="11033760">
                  <a:moveTo>
                    <a:pt x="0" y="0"/>
                  </a:moveTo>
                  <a:lnTo>
                    <a:pt x="24384000" y="0"/>
                  </a:lnTo>
                  <a:lnTo>
                    <a:pt x="24384000" y="11033760"/>
                  </a:lnTo>
                  <a:lnTo>
                    <a:pt x="0" y="1103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" b="-1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81507" y="7553354"/>
            <a:ext cx="4847587" cy="204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7560" lvl="1" indent="-398780" algn="l">
              <a:lnSpc>
                <a:spcPts val="3840"/>
              </a:lnSpc>
              <a:buFont typeface="Arial"/>
              <a:buChar char="•"/>
            </a:pPr>
            <a:r>
              <a:rPr lang="en-US" sz="3200" spc="-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monitoring</a:t>
            </a:r>
          </a:p>
          <a:p>
            <a:pPr marL="797560" lvl="1" indent="-398780" algn="l">
              <a:lnSpc>
                <a:spcPts val="3840"/>
              </a:lnSpc>
              <a:buFont typeface="Arial"/>
              <a:buChar char="•"/>
            </a:pPr>
            <a:r>
              <a:rPr lang="en-US" sz="3200" spc="-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Setpoint control</a:t>
            </a:r>
          </a:p>
          <a:p>
            <a:pPr marL="797560" lvl="1" indent="-398780" algn="l">
              <a:lnSpc>
                <a:spcPts val="3840"/>
              </a:lnSpc>
              <a:buFont typeface="Arial"/>
              <a:buChar char="•"/>
            </a:pPr>
            <a:r>
              <a:rPr lang="en-US" sz="3200" spc="-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Alarm visualization</a:t>
            </a:r>
          </a:p>
          <a:p>
            <a:pPr marL="797560" lvl="1" indent="-398780" algn="l">
              <a:lnSpc>
                <a:spcPts val="3840"/>
              </a:lnSpc>
              <a:buFont typeface="Arial"/>
              <a:buChar char="•"/>
            </a:pPr>
            <a:r>
              <a:rPr lang="en-US" sz="3200" spc="-1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WebSocket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1124</Words>
  <Application>Microsoft Office PowerPoint</Application>
  <PresentationFormat>Custom</PresentationFormat>
  <Paragraphs>294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 (MS)</vt:lpstr>
      <vt:lpstr>Times New Roman</vt:lpstr>
      <vt:lpstr>Calibri</vt:lpstr>
      <vt:lpstr>Calibri (MS) Bold</vt:lpstr>
      <vt:lpstr>Arial</vt:lpstr>
      <vt:lpstr>Calibri (MS)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RTOS_ESP32_Presentation (1).pptx</dc:title>
  <cp:lastModifiedBy>JOTHIRNADH REDDY</cp:lastModifiedBy>
  <cp:revision>3</cp:revision>
  <dcterms:created xsi:type="dcterms:W3CDTF">2006-08-16T00:00:00Z</dcterms:created>
  <dcterms:modified xsi:type="dcterms:W3CDTF">2026-04-21T05:20:08Z</dcterms:modified>
  <dc:identifier>DAHHcyWifFA</dc:identifier>
</cp:coreProperties>
</file>